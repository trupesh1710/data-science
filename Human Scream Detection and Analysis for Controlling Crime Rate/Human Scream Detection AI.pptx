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6" r:id="rId4"/>
    <p:sldMasterId id="214748372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IBM Plex Sans"/>
      <p:regular r:id="rId24"/>
      <p:bold r:id="rId25"/>
      <p:italic r:id="rId26"/>
      <p:boldItalic r:id="rId27"/>
    </p:embeddedFont>
    <p:embeddedFont>
      <p:font typeface="Sora SemiBold"/>
      <p:regular r:id="rId28"/>
      <p:bold r:id="rId29"/>
    </p:embeddedFont>
    <p:embeddedFont>
      <p:font typeface="Young Serif"/>
      <p:regular r:id="rId30"/>
    </p:embeddedFont>
    <p:embeddedFont>
      <p:font typeface="IBM Plex Sans Medium"/>
      <p:regular r:id="rId31"/>
      <p:bold r:id="rId32"/>
      <p:italic r:id="rId33"/>
      <p:boldItalic r:id="rId34"/>
    </p:embeddedFont>
    <p:embeddedFont>
      <p:font typeface="Sora Light"/>
      <p:regular r:id="rId35"/>
      <p:bold r:id="rId36"/>
    </p:embeddedFont>
    <p:embeddedFont>
      <p:font typeface="Sora ExtraLight"/>
      <p:regular r:id="rId37"/>
      <p:bold r:id="rId38"/>
    </p:embeddedFont>
    <p:embeddedFont>
      <p:font typeface="Rubik"/>
      <p:regular r:id="rId39"/>
      <p:bold r:id="rId40"/>
      <p:italic r:id="rId41"/>
      <p:boldItalic r:id="rId42"/>
    </p:embeddedFont>
    <p:embeddedFont>
      <p:font typeface="Rubik SemiBold"/>
      <p:regular r:id="rId43"/>
      <p:bold r:id="rId44"/>
      <p:italic r:id="rId45"/>
      <p:boldItalic r:id="rId46"/>
    </p:embeddedFont>
    <p:embeddedFont>
      <p:font typeface="Sora"/>
      <p:regular r:id="rId47"/>
      <p:bold r:id="rId48"/>
    </p:embeddedFont>
    <p:embeddedFont>
      <p:font typeface="Sora Medium"/>
      <p:regular r:id="rId49"/>
      <p:bold r:id="rId50"/>
    </p:embeddedFont>
    <p:embeddedFont>
      <p:font typeface="IBM Plex Sans SemiBold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ubik-bold.fntdata"/><Relationship Id="rId42" Type="http://schemas.openxmlformats.org/officeDocument/2006/relationships/font" Target="fonts/Rubik-boldItalic.fntdata"/><Relationship Id="rId41" Type="http://schemas.openxmlformats.org/officeDocument/2006/relationships/font" Target="fonts/Rubik-italic.fntdata"/><Relationship Id="rId44" Type="http://schemas.openxmlformats.org/officeDocument/2006/relationships/font" Target="fonts/RubikSemiBold-bold.fntdata"/><Relationship Id="rId43" Type="http://schemas.openxmlformats.org/officeDocument/2006/relationships/font" Target="fonts/RubikSemiBold-regular.fntdata"/><Relationship Id="rId46" Type="http://schemas.openxmlformats.org/officeDocument/2006/relationships/font" Target="fonts/RubikSemiBold-boldItalic.fntdata"/><Relationship Id="rId45" Type="http://schemas.openxmlformats.org/officeDocument/2006/relationships/font" Target="fonts/RubikSemiBold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Sora-bold.fntdata"/><Relationship Id="rId47" Type="http://schemas.openxmlformats.org/officeDocument/2006/relationships/font" Target="fonts/Sora-regular.fntdata"/><Relationship Id="rId49" Type="http://schemas.openxmlformats.org/officeDocument/2006/relationships/font" Target="fonts/Sora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Medium-regular.fntdata"/><Relationship Id="rId30" Type="http://schemas.openxmlformats.org/officeDocument/2006/relationships/font" Target="fonts/YoungSerif-regular.fntdata"/><Relationship Id="rId33" Type="http://schemas.openxmlformats.org/officeDocument/2006/relationships/font" Target="fonts/IBMPlexSansMedium-italic.fntdata"/><Relationship Id="rId32" Type="http://schemas.openxmlformats.org/officeDocument/2006/relationships/font" Target="fonts/IBMPlexSansMedium-bold.fntdata"/><Relationship Id="rId35" Type="http://schemas.openxmlformats.org/officeDocument/2006/relationships/font" Target="fonts/SoraLight-regular.fntdata"/><Relationship Id="rId34" Type="http://schemas.openxmlformats.org/officeDocument/2006/relationships/font" Target="fonts/IBMPlexSansMedium-boldItalic.fntdata"/><Relationship Id="rId37" Type="http://schemas.openxmlformats.org/officeDocument/2006/relationships/font" Target="fonts/SoraExtraLight-regular.fntdata"/><Relationship Id="rId36" Type="http://schemas.openxmlformats.org/officeDocument/2006/relationships/font" Target="fonts/SoraLight-bold.fntdata"/><Relationship Id="rId39" Type="http://schemas.openxmlformats.org/officeDocument/2006/relationships/font" Target="fonts/Rubik-regular.fntdata"/><Relationship Id="rId38" Type="http://schemas.openxmlformats.org/officeDocument/2006/relationships/font" Target="fonts/SoraExtraLight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IBMPlexSans-regular.fntdata"/><Relationship Id="rId23" Type="http://schemas.openxmlformats.org/officeDocument/2006/relationships/slide" Target="slides/slide17.xml"/><Relationship Id="rId26" Type="http://schemas.openxmlformats.org/officeDocument/2006/relationships/font" Target="fonts/IBMPlexSans-italic.fntdata"/><Relationship Id="rId25" Type="http://schemas.openxmlformats.org/officeDocument/2006/relationships/font" Target="fonts/IBMPlexSans-bold.fntdata"/><Relationship Id="rId28" Type="http://schemas.openxmlformats.org/officeDocument/2006/relationships/font" Target="fonts/SoraSemiBold-regular.fntdata"/><Relationship Id="rId27" Type="http://schemas.openxmlformats.org/officeDocument/2006/relationships/font" Target="fonts/IBMPlexSans-boldItalic.fntdata"/><Relationship Id="rId29" Type="http://schemas.openxmlformats.org/officeDocument/2006/relationships/font" Target="fonts/SoraSemiBold-bold.fntdata"/><Relationship Id="rId51" Type="http://schemas.openxmlformats.org/officeDocument/2006/relationships/font" Target="fonts/IBMPlexSansSemiBold-regular.fntdata"/><Relationship Id="rId50" Type="http://schemas.openxmlformats.org/officeDocument/2006/relationships/font" Target="fonts/SoraMedium-bold.fntdata"/><Relationship Id="rId53" Type="http://schemas.openxmlformats.org/officeDocument/2006/relationships/font" Target="fonts/IBMPlexSansSemiBold-italic.fntdata"/><Relationship Id="rId52" Type="http://schemas.openxmlformats.org/officeDocument/2006/relationships/font" Target="fonts/IBMPlexSans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IBMPlexSansSemi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773d76f65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773d76f65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773d76f653_0_1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3773d76f653_0_1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773d76f653_0_1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3773d76f653_0_1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773d76f653_0_1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3773d76f653_0_1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3773d76f653_0_1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3773d76f653_0_1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773d76f653_0_1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773d76f653_0_1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773d76f653_0_1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3773d76f653_0_1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773d76f653_0_1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3773d76f653_0_1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3773d76f653_0_1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3773d76f653_0_1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773d76f653_0_1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3773d76f653_0_1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773d76f653_0_1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773d76f653_0_1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773d76f653_0_1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3773d76f653_0_1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773d76f653_0_1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3773d76f653_0_1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773d76f653_0_1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3773d76f653_0_1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773d76f653_0_1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3773d76f653_0_1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3773d76f653_0_1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3773d76f653_0_1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773d76f653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3773d76f653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369850" y="3221650"/>
            <a:ext cx="4404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1" name="Google Shape;61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" name="Google Shape;76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6" name="Google Shape;86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" name="Google Shape;98;p1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" name="Google Shape;101;p1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1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9" name="Google Shape;109;p1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2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3" name="Google Shape;123;p2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 type="tx">
  <p:cSld name="TITLE_AND_BODY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1"/>
          <p:cNvSpPr/>
          <p:nvPr>
            <p:ph idx="2" type="pic"/>
          </p:nvPr>
        </p:nvSpPr>
        <p:spPr>
          <a:xfrm>
            <a:off x="228600" y="1322475"/>
            <a:ext cx="86868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1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p21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two columns" type="twoColTx">
  <p:cSld name="TITLE_AND_TWO_COLUMNS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4" name="Google Shape;134;p2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5" name="Google Shape;135;p22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227150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Google Shape;138;p22"/>
          <p:cNvSpPr/>
          <p:nvPr/>
        </p:nvSpPr>
        <p:spPr>
          <a:xfrm>
            <a:off x="4685575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39" name="Google Shape;139;p22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>
  <p:cSld name="CUSTOM"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3" name="Google Shape;143;p2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4" name="Google Shape;144;p23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45" name="Google Shape;145;p23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6" name="Google Shape;146;p23"/>
          <p:cNvSpPr/>
          <p:nvPr/>
        </p:nvSpPr>
        <p:spPr>
          <a:xfrm>
            <a:off x="228450" y="1762300"/>
            <a:ext cx="86868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7" name="Google Shape;147;p23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one column and image">
  <p:cSld name="CUSTOM_1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1" name="Google Shape;151;p2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2" name="Google Shape;152;p24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53" name="Google Shape;153;p24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4" name="Google Shape;154;p24"/>
          <p:cNvSpPr/>
          <p:nvPr>
            <p:ph idx="2" type="pic"/>
          </p:nvPr>
        </p:nvSpPr>
        <p:spPr>
          <a:xfrm>
            <a:off x="4685900" y="1762300"/>
            <a:ext cx="4229400" cy="31524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4"/>
          <p:cNvSpPr/>
          <p:nvPr/>
        </p:nvSpPr>
        <p:spPr>
          <a:xfrm>
            <a:off x="228450" y="1762300"/>
            <a:ext cx="42294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6" name="Google Shape;156;p24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1">
  <p:cSld name="CUSTOM_2"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0" name="Google Shape;160;p2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25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2" name="Google Shape;162;p25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3" name="Google Shape;163;p25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25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5" name="Google Shape;165;p25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6" name="Google Shape;166;p25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2">
  <p:cSld name="CUSTOM_2_1"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1" name="Google Shape;171;p2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2" name="Google Shape;172;p26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26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6" name="Google Shape;176;p26"/>
          <p:cNvSpPr txBox="1"/>
          <p:nvPr>
            <p:ph idx="1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7" name="Google Shape;177;p26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8" name="Google Shape;178;p26"/>
          <p:cNvSpPr txBox="1"/>
          <p:nvPr>
            <p:ph idx="3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3">
  <p:cSld name="CUSTOM_2_1_1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2" name="Google Shape;182;p2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3" name="Google Shape;183;p27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7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7" name="Google Shape;187;p27"/>
          <p:cNvSpPr txBox="1"/>
          <p:nvPr>
            <p:ph idx="1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8" name="Google Shape;188;p27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9" name="Google Shape;189;p27"/>
          <p:cNvSpPr txBox="1"/>
          <p:nvPr>
            <p:ph idx="3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4">
  <p:cSld name="CUSTOM_2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3" name="Google Shape;193;p2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4" name="Google Shape;194;p28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28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28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7" name="Google Shape;197;p28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8" name="Google Shape;198;p28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9" name="Google Shape;199;p28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0" name="Google Shape;200;p28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1" name="Google Shape;201;p28"/>
          <p:cNvSpPr txBox="1"/>
          <p:nvPr>
            <p:ph idx="4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2" name="Google Shape;202;p28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3" name="Google Shape;203;p28"/>
          <p:cNvSpPr txBox="1"/>
          <p:nvPr>
            <p:ph idx="5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4" name="Google Shape;204;p28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6" name="Google Shape;206;p28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7" name="Google Shape;207;p28"/>
          <p:cNvSpPr txBox="1"/>
          <p:nvPr>
            <p:ph idx="7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CUSTOM_3">
    <p:bg>
      <p:bgPr>
        <a:solidFill>
          <a:schemeClr val="dk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0" name="Google Shape;210;p29"/>
          <p:cNvSpPr txBox="1"/>
          <p:nvPr>
            <p:ph type="title"/>
          </p:nvPr>
        </p:nvSpPr>
        <p:spPr>
          <a:xfrm>
            <a:off x="1248900" y="17773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1" name="Google Shape;211;p29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4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219" name="Google Shape;219;p3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0" name="Google Shape;220;p3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221" name="Google Shape;221;p3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22" name="Google Shape;222;p3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223" name="Google Shape;223;p3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224" name="Google Shape;224;p3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225" name="Google Shape;225;p3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226" name="Google Shape;226;p3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227" name="Google Shape;227;p3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28" name="Google Shape;228;p3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9" name="Google Shape;229;p3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30" name="Google Shape;230;p3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1" name="Google Shape;231;p3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32" name="Google Shape;232;p3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33" name="Google Shape;233;p3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34" name="Google Shape;234;p3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35" name="Google Shape;235;p3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6" name="Google Shape;236;p3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37" name="Google Shape;237;p3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38" name="Google Shape;238;p3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39" name="Google Shape;239;p3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40" name="Google Shape;240;p3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41" name="Google Shape;241;p3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2" name="Google Shape;242;p3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43" name="Google Shape;243;p3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244" name="Google Shape;244;p3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5" name="Google Shape;245;p3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3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248" name="Google Shape;248;p3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249" name="Google Shape;249;p3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50" name="Google Shape;250;p3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1" name="Google Shape;251;p3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2" name="Google Shape;252;p3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3" name="Google Shape;253;p3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4" name="Google Shape;254;p3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55" name="Google Shape;255;p3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56" name="Google Shape;256;p3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7" name="Google Shape;257;p3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8" name="Google Shape;258;p3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9" name="Google Shape;259;p3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0" name="Google Shape;260;p3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61" name="Google Shape;261;p3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62" name="Google Shape;262;p3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3" name="Google Shape;263;p3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4" name="Google Shape;264;p3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5" name="Google Shape;265;p3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6" name="Google Shape;266;p3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67" name="Google Shape;267;p3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68" name="Google Shape;268;p3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9" name="Google Shape;269;p3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0" name="Google Shape;270;p3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1" name="Google Shape;271;p3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2" name="Google Shape;272;p3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273" name="Google Shape;273;p3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74" name="Google Shape;274;p3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75" name="Google Shape;275;p3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76" name="Google Shape;276;p3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77" name="Google Shape;277;p3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78" name="Google Shape;278;p3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0" name="Google Shape;280;p3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81" name="Google Shape;28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3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284" name="Google Shape;284;p3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285" name="Google Shape;285;p3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86" name="Google Shape;286;p3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87" name="Google Shape;287;p3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88" name="Google Shape;288;p3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89" name="Google Shape;289;p3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90" name="Google Shape;290;p3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91" name="Google Shape;291;p3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2" name="Google Shape;292;p3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93" name="Google Shape;293;p3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94" name="Google Shape;294;p3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95" name="Google Shape;295;p3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96" name="Google Shape;296;p3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97" name="Google Shape;297;p3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8" name="Google Shape;298;p3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99" name="Google Shape;299;p3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0" name="Google Shape;300;p3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1" name="Google Shape;301;p3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2" name="Google Shape;302;p3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03" name="Google Shape;303;p3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304" name="Google Shape;304;p3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5" name="Google Shape;305;p3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6" name="Google Shape;306;p3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7" name="Google Shape;307;p3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8" name="Google Shape;308;p3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09" name="Google Shape;309;p3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10" name="Google Shape;310;p3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3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2" name="Google Shape;312;p3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3" name="Google Shape;313;p3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4" name="Google Shape;314;p3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315" name="Google Shape;315;p3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6" name="Google Shape;316;p3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3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319" name="Google Shape;319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320" name="Google Shape;320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321" name="Google Shape;32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2" name="Google Shape;32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3" name="Google Shape;32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4" name="Google Shape;32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5" name="Google Shape;32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26" name="Google Shape;326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327" name="Google Shape;32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8" name="Google Shape;32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9" name="Google Shape;32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30" name="Google Shape;33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31" name="Google Shape;33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2" name="Google Shape;332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333" name="Google Shape;333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34" name="Google Shape;334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35" name="Google Shape;335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36" name="Google Shape;336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37" name="Google Shape;337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8" name="Google Shape;338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339" name="Google Shape;33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40" name="Google Shape;34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41" name="Google Shape;34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42" name="Google Shape;34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43" name="Google Shape;34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44" name="Google Shape;344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345" name="Google Shape;345;p3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346" name="Google Shape;346;p3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347" name="Google Shape;347;p3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8" name="Google Shape;348;p3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3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3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51" name="Google Shape;351;p3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352" name="Google Shape;352;p3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3" name="Google Shape;353;p3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4" name="Google Shape;354;p3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5" name="Google Shape;355;p3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56" name="Google Shape;356;p3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357" name="Google Shape;357;p3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8" name="Google Shape;358;p3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9" name="Google Shape;359;p3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0" name="Google Shape;360;p3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61" name="Google Shape;361;p3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362" name="Google Shape;362;p3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3" name="Google Shape;363;p3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4" name="Google Shape;364;p3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5" name="Google Shape;365;p3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366" name="Google Shape;366;p3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367" name="Google Shape;367;p3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68" name="Google Shape;368;p3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69" name="Google Shape;369;p3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70" name="Google Shape;370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1" name="Google Shape;371;p3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2" name="Google Shape;372;p3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3" name="Google Shape;373;p3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6" name="Google Shape;376;p3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7" name="Google Shape;377;p3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8" name="Google Shape;378;p3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9" name="Google Shape;379;p3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0" name="Google Shape;380;p3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3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3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3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3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3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6" name="Google Shape;386;p3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87" name="Google Shape;387;p3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388" name="Google Shape;388;p3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389" name="Google Shape;389;p3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390" name="Google Shape;390;p3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4" name="Google Shape;394;p3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3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398" name="Google Shape;398;p3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9" name="Google Shape;399;p3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402" name="Google Shape;402;p3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403" name="Google Shape;403;p3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404" name="Google Shape;404;p3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405" name="Google Shape;405;p3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06" name="Google Shape;40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07" name="Google Shape;40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08" name="Google Shape;408;p3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09" name="Google Shape;409;p3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0" name="Google Shape;410;p3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411" name="Google Shape;411;p3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2" name="Google Shape;412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3" name="Google Shape;41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416" name="Google Shape;416;p3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417" name="Google Shape;417;p3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8" name="Google Shape;418;p3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9" name="Google Shape;419;p3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0" name="Google Shape;420;p3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3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2" name="Google Shape;422;p3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5" name="Google Shape;425;p3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6" name="Google Shape;426;p3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427" name="Google Shape;427;p3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8" name="Google Shape;428;p3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" name="Google Shape;430;p4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431" name="Google Shape;431;p4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2" name="Google Shape;432;p4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3" name="Google Shape;433;p4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4" name="Google Shape;434;p4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5" name="Google Shape;435;p4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4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37" name="Google Shape;437;p4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38" name="Google Shape;438;p4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0" name="Google Shape;4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1" name="Google Shape;441;p4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2" name="Google Shape;442;p4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3" name="Google Shape;44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5" name="Google Shape;44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6" name="Google Shape;446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47" name="Google Shape;447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8" name="Google Shape;448;p4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49" name="Google Shape;449;p4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4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453" name="Google Shape;453;p4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454" name="Google Shape;454;p4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455" name="Google Shape;455;p4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456" name="Google Shape;456;p4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457" name="Google Shape;457;p4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4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4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4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4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4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63" name="Google Shape;463;p4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464" name="Google Shape;464;p4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465" name="Google Shape;465;p4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466" name="Google Shape;466;p4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69" name="Google Shape;469;p4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470" name="Google Shape;470;p4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1" name="Google Shape;471;p4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2" name="Google Shape;472;p4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3" name="Google Shape;473;p4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4" name="Google Shape;474;p4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5" name="Google Shape;475;p4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6" name="Google Shape;476;p4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7" name="Google Shape;477;p4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8" name="Google Shape;478;p4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9" name="Google Shape;479;p4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80" name="Google Shape;480;p4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81" name="Google Shape;481;p4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482" name="Google Shape;482;p4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83" name="Google Shape;483;p4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86" name="Google Shape;486;p4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487" name="Google Shape;487;p4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488" name="Google Shape;488;p4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489" name="Google Shape;489;p4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4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1" name="Google Shape;491;p4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2" name="Google Shape;492;p4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3" name="Google Shape;493;p4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494" name="Google Shape;494;p4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5" name="Google Shape;495;p4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4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99" name="Google Shape;499;p4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500" name="Google Shape;500;p4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501" name="Google Shape;501;p4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2" name="Google Shape;502;p4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3" name="Google Shape;503;p4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4" name="Google Shape;504;p4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05" name="Google Shape;505;p4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506" name="Google Shape;506;p4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4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4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4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4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511" name="Google Shape;511;p4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4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4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4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15" name="Google Shape;515;p4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516" name="Google Shape;516;p4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517" name="Google Shape;517;p4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8" name="Google Shape;518;p4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19" name="Google Shape;519;p4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0" name="Google Shape;520;p4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3" name="Google Shape;523;p4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4" name="Google Shape;524;p4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25" name="Google Shape;525;p4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8" name="Google Shape;528;p4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29" name="Google Shape;529;p4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30" name="Google Shape;530;p4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31" name="Google Shape;531;p4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32" name="Google Shape;532;p4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33" name="Google Shape;533;p4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34" name="Google Shape;534;p4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4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36" name="Google Shape;536;p4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37" name="Google Shape;537;p4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538" name="Google Shape;538;p4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539" name="Google Shape;539;p4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540" name="Google Shape;540;p4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541" name="Google Shape;541;p4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542" name="Google Shape;542;p4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543" name="Google Shape;543;p4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544" name="Google Shape;544;p4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545" name="Google Shape;545;p4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546" name="Google Shape;546;p4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547" name="Google Shape;547;p4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4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51" name="Google Shape;551;p4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52" name="Google Shape;552;p4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53" name="Google Shape;553;p4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54" name="Google Shape;554;p4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55" name="Google Shape;555;p4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56" name="Google Shape;556;p4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57" name="Google Shape;557;p4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8" name="Google Shape;558;p4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9" name="Google Shape;559;p4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0" name="Google Shape;560;p4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1" name="Google Shape;561;p4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2" name="Google Shape;562;p4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3" name="Google Shape;563;p4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4" name="Google Shape;564;p4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5" name="Google Shape;565;p4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6" name="Google Shape;566;p4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7" name="Google Shape;567;p4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8" name="Google Shape;568;p4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9" name="Google Shape;569;p4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2" name="Google Shape;572;p4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3" name="Google Shape;573;p4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74" name="Google Shape;574;p4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575" name="Google Shape;575;p4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76" name="Google Shape;576;p4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7" name="Google Shape;577;p4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8" name="Google Shape;578;p4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9" name="Google Shape;579;p4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0" name="Google Shape;580;p4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81" name="Google Shape;581;p4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82" name="Google Shape;582;p4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3" name="Google Shape;583;p4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4" name="Google Shape;584;p4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5" name="Google Shape;585;p4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86" name="Google Shape;586;p4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87" name="Google Shape;587;p4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8" name="Google Shape;588;p4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9" name="Google Shape;589;p4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90" name="Google Shape;590;p4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91" name="Google Shape;591;p4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2" name="Google Shape;592;p4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3" name="Google Shape;593;p4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4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7" name="Google Shape;597;p4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4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9" name="Google Shape;599;p4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600" name="Google Shape;600;p4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01" name="Google Shape;601;p4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02" name="Google Shape;602;p4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3" name="Google Shape;603;p4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4" name="Google Shape;604;p4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07" name="Google Shape;607;p4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08" name="Google Shape;608;p4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09" name="Google Shape;609;p4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0" name="Google Shape;610;p4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1" name="Google Shape;611;p4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2" name="Google Shape;612;p4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3" name="Google Shape;613;p4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4" name="Google Shape;614;p4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5" name="Google Shape;615;p4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6" name="Google Shape;616;p4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7" name="Google Shape;617;p4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8" name="Google Shape;618;p4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9" name="Google Shape;619;p4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4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1" name="Google Shape;621;p4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2" name="Google Shape;622;p4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23" name="Google Shape;623;p4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626" name="Google Shape;626;p5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627" name="Google Shape;627;p5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28" name="Google Shape;628;p5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9" name="Google Shape;629;p5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30" name="Google Shape;630;p5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31" name="Google Shape;631;p5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32" name="Google Shape;632;p5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33" name="Google Shape;633;p5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34" name="Google Shape;634;p5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5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6" name="Google Shape;636;p5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7" name="Google Shape;637;p5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638" name="Google Shape;638;p5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9" name="Google Shape;639;p5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" name="Google Shape;641;p5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642" name="Google Shape;642;p5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643" name="Google Shape;643;p5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44" name="Google Shape;644;p5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45" name="Google Shape;645;p5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46" name="Google Shape;646;p5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47" name="Google Shape;647;p5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48" name="Google Shape;648;p5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649" name="Google Shape;649;p5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0" name="Google Shape;650;p5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1" name="Google Shape;651;p5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2" name="Google Shape;652;p5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53" name="Google Shape;653;p5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654" name="Google Shape;654;p5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5" name="Google Shape;655;p5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6" name="Google Shape;656;p5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7" name="Google Shape;657;p5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58" name="Google Shape;658;p5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9" name="Google Shape;659;p5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0" name="Google Shape;660;p5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1" name="Google Shape;661;p5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62" name="Google Shape;662;p5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663" name="Google Shape;663;p5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664" name="Google Shape;664;p5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oogle Shape;666;p5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667" name="Google Shape;667;p5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668" name="Google Shape;668;p5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9" name="Google Shape;669;p5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70" name="Google Shape;670;p5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71" name="Google Shape;671;p5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72" name="Google Shape;672;p5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73" name="Google Shape;673;p5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674" name="Google Shape;674;p5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75" name="Google Shape;675;p5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76" name="Google Shape;676;p5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77" name="Google Shape;677;p5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78" name="Google Shape;678;p5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679" name="Google Shape;679;p5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0" name="Google Shape;680;p5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5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2" name="Google Shape;682;p5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83" name="Google Shape;683;p5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4" name="Google Shape;684;p5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5" name="Google Shape;685;p5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686" name="Google Shape;686;p5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687" name="Google Shape;687;p5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5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5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0" name="Google Shape;690;p5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91" name="Google Shape;691;p5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692" name="Google Shape;692;p5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93" name="Google Shape;693;p5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694" name="Google Shape;694;p5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695" name="Google Shape;695;p5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96" name="Google Shape;696;p5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697" name="Google Shape;697;p5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98" name="Google Shape;698;p5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699" name="Google Shape;699;p5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700" name="Google Shape;700;p5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01" name="Google Shape;701;p5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3" name="Google Shape;703;p5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704" name="Google Shape;704;p5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705" name="Google Shape;705;p5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706" name="Google Shape;706;p5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7" name="Google Shape;707;p5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8" name="Google Shape;708;p5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9" name="Google Shape;709;p5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0" name="Google Shape;710;p5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11" name="Google Shape;711;p5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12" name="Google Shape;712;p5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3" name="Google Shape;713;p5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4" name="Google Shape;714;p5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5" name="Google Shape;715;p5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6" name="Google Shape;716;p5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17" name="Google Shape;717;p5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718" name="Google Shape;718;p5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9" name="Google Shape;719;p5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0" name="Google Shape;720;p5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1" name="Google Shape;721;p5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2" name="Google Shape;722;p5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23" name="Google Shape;723;p5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24" name="Google Shape;724;p5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5" name="Google Shape;725;p5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6" name="Google Shape;726;p5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7" name="Google Shape;727;p5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28" name="Google Shape;728;p5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729" name="Google Shape;729;p5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730" name="Google Shape;730;p5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31" name="Google Shape;731;p5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32" name="Google Shape;732;p5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33" name="Google Shape;733;p5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34" name="Google Shape;734;p5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35" name="Google Shape;735;p5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36" name="Google Shape;736;p5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7" name="Google Shape;737;p5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38" name="Google Shape;738;p5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39" name="Google Shape;739;p5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0" name="Google Shape;740;p5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1" name="Google Shape;741;p5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2" name="Google Shape;742;p5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43" name="Google Shape;743;p5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4" name="Google Shape;744;p5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5" name="Google Shape;745;p5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6" name="Google Shape;746;p5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7" name="Google Shape;747;p5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8" name="Google Shape;748;p5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49" name="Google Shape;749;p5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0" name="Google Shape;750;p5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1" name="Google Shape;751;p5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2" name="Google Shape;752;p5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3" name="Google Shape;753;p5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4" name="Google Shape;754;p5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55" name="Google Shape;755;p5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56" name="Google Shape;756;p5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57" name="Google Shape;757;p5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58" name="Google Shape;758;p5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59" name="Google Shape;759;p5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60" name="Google Shape;760;p5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1" name="Google Shape;761;p5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62" name="Google Shape;762;p5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3" name="Google Shape;763;p5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64" name="Google Shape;764;p5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5" name="Google Shape;765;p5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66" name="Google Shape;766;p5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7" name="Google Shape;767;p5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68" name="Google Shape;768;p5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9" name="Google Shape;769;p5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70" name="Google Shape;770;p5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1" name="Google Shape;771;p5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72" name="Google Shape;772;p5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5" name="Google Shape;775;p5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776" name="Google Shape;776;p5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7" name="Google Shape;777;p5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8" name="Google Shape;778;p5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9" name="Google Shape;779;p5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5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5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82" name="Google Shape;782;p5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3" name="Google Shape;783;p5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5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5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86" name="Google Shape;786;p5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87" name="Google Shape;787;p5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88" name="Google Shape;788;p5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89" name="Google Shape;789;p5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90" name="Google Shape;790;p5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91" name="Google Shape;791;p5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5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94" name="Google Shape;794;p5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95" name="Google Shape;795;p5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96" name="Google Shape;796;p5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797" name="Google Shape;797;p5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798" name="Google Shape;798;p5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99" name="Google Shape;799;p5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0" name="Google Shape;800;p5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2" name="Google Shape;802;p5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803" name="Google Shape;803;p5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804" name="Google Shape;804;p5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805" name="Google Shape;805;p5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806" name="Google Shape;806;p5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807" name="Google Shape;807;p5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808" name="Google Shape;808;p5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809" name="Google Shape;809;p5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810" name="Google Shape;810;p5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811" name="Google Shape;811;p5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812" name="Google Shape;812;p5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813" name="Google Shape;813;p5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814" name="Google Shape;814;p5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815" name="Google Shape;815;p5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816" name="Google Shape;816;p5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817" name="Google Shape;817;p5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818" name="Google Shape;818;p5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819" name="Google Shape;819;p5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20" name="Google Shape;820;p5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1" name="Google Shape;821;p5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22" name="Google Shape;822;p5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23" name="Google Shape;823;p5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24" name="Google Shape;824;p5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25" name="Google Shape;825;p5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26" name="Google Shape;826;p5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27" name="Google Shape;827;p5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28" name="Google Shape;828;p5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29" name="Google Shape;829;p5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30" name="Google Shape;830;p5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2" name="Google Shape;832;p5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833" name="Google Shape;833;p5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834" name="Google Shape;834;p5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835" name="Google Shape;835;p5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36" name="Google Shape;836;p5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837" name="Google Shape;837;p5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838" name="Google Shape;838;p5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839" name="Google Shape;839;p5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840" name="Google Shape;840;p5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841" name="Google Shape;841;p5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842" name="Google Shape;842;p5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843" name="Google Shape;843;p5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844" name="Google Shape;844;p5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845" name="Google Shape;845;p5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46" name="Google Shape;846;p5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47" name="Google Shape;847;p5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48" name="Google Shape;848;p5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49" name="Google Shape;849;p5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50" name="Google Shape;850;p5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51" name="Google Shape;851;p5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52" name="Google Shape;852;p5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53" name="Google Shape;853;p5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854" name="Google Shape;854;p5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855" name="Google Shape;855;p5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856" name="Google Shape;856;p5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857" name="Google Shape;857;p5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858" name="Google Shape;858;p5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859" name="Google Shape;859;p5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860" name="Google Shape;860;p5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861" name="Google Shape;861;p5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862" name="Google Shape;862;p5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863" name="Google Shape;863;p5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864" name="Google Shape;864;p5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865" name="Google Shape;865;p5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866" name="Google Shape;866;p5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867" name="Google Shape;867;p5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868" name="Google Shape;868;p5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869" name="Google Shape;869;p5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70" name="Google Shape;870;p5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1" name="Google Shape;871;p5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872" name="Google Shape;872;p5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5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74" name="Google Shape;874;p5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75" name="Google Shape;875;p5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76" name="Google Shape;876;p5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77" name="Google Shape;877;p5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8" name="Google Shape;878;p5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79" name="Google Shape;879;p5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80" name="Google Shape;880;p5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83" name="Google Shape;883;p5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84" name="Google Shape;884;p5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85" name="Google Shape;885;p5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886" name="Google Shape;886;p5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887" name="Google Shape;887;p5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888" name="Google Shape;888;p5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89" name="Google Shape;889;p5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90" name="Google Shape;890;p5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891" name="Google Shape;891;p5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2" name="Google Shape;892;p5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3" name="Google Shape;893;p5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4" name="Google Shape;894;p5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95" name="Google Shape;895;p5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896" name="Google Shape;896;p5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7" name="Google Shape;897;p5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8" name="Google Shape;898;p5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99" name="Google Shape;899;p5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900" name="Google Shape;900;p5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1" name="Google Shape;901;p5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2" name="Google Shape;902;p5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3" name="Google Shape;903;p5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4" name="Google Shape;904;p5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905" name="Google Shape;905;p5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6" name="Google Shape;906;p5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7" name="Google Shape;907;p5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8" name="Google Shape;908;p5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9" name="Google Shape;909;p5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10" name="Google Shape;910;p5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11" name="Google Shape;911;p5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912" name="Google Shape;912;p5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3" name="Google Shape;913;p5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4" name="Google Shape;914;p5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5" name="Google Shape;915;p5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6" name="Google Shape;916;p5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5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19" name="Google Shape;919;p5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20" name="Google Shape;920;p5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21" name="Google Shape;921;p5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22" name="Google Shape;922;p5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23" name="Google Shape;923;p5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924" name="Google Shape;924;p5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25" name="Google Shape;925;p5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926" name="Google Shape;926;p5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927" name="Google Shape;927;p5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8" name="Google Shape;928;p5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29" name="Google Shape;929;p5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930" name="Google Shape;930;p5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1" name="Google Shape;931;p5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2" name="Google Shape;932;p5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3" name="Google Shape;933;p5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34" name="Google Shape;934;p5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935" name="Google Shape;935;p5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6" name="Google Shape;936;p5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7" name="Google Shape;937;p5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38" name="Google Shape;938;p5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939" name="Google Shape;939;p5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40" name="Google Shape;940;p5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41" name="Google Shape;941;p5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42" name="Google Shape;942;p5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43" name="Google Shape;943;p5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944" name="Google Shape;944;p5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5" name="Google Shape;945;p5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6" name="Google Shape;946;p5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7" name="Google Shape;947;p5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8" name="Google Shape;948;p5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49" name="Google Shape;949;p5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50" name="Google Shape;950;p5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51" name="Google Shape;951;p5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52" name="Google Shape;952;p5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53" name="Google Shape;953;p5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54" name="Google Shape;954;p5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55" name="Google Shape;955;p5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56" name="Google Shape;956;p5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57" name="Google Shape;957;p5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6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60" name="Google Shape;960;p6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961" name="Google Shape;961;p6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962" name="Google Shape;962;p6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3" name="Google Shape;963;p6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4" name="Google Shape;964;p6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5" name="Google Shape;965;p6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6" name="Google Shape;966;p6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67" name="Google Shape;967;p6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8" name="Google Shape;968;p6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9" name="Google Shape;969;p6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0" name="Google Shape;970;p6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1" name="Google Shape;971;p6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2" name="Google Shape;972;p6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73" name="Google Shape;973;p6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974" name="Google Shape;974;p6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5" name="Google Shape;975;p6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6" name="Google Shape;976;p6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7" name="Google Shape;977;p6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78" name="Google Shape;978;p6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979" name="Google Shape;979;p6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0" name="Google Shape;980;p6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1" name="Google Shape;981;p6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2" name="Google Shape;982;p6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983" name="Google Shape;983;p6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984" name="Google Shape;984;p6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85" name="Google Shape;985;p6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86" name="Google Shape;986;p6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87" name="Google Shape;987;p6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8" name="Google Shape;988;p6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9" name="Google Shape;989;p6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0" name="Google Shape;990;p6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1" name="Google Shape;991;p6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2" name="Google Shape;992;p6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3" name="Google Shape;993;p6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94" name="Google Shape;994;p6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97" name="Google Shape;997;p6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2" name="Google Shape;1002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5" name="Google Shape;1005;p6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06" name="Google Shape;1006;p6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11" name="Google Shape;1011;p6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6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6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16" name="Google Shape;1016;p6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17" name="Google Shape;1017;p6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7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3" name="Google Shape;1023;p7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4" name="Google Shape;1024;p7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5" name="Google Shape;1025;p7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6" name="Google Shape;1026;p7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7" name="Google Shape;1027;p7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8" name="Google Shape;1028;p7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1" name="Google Shape;1031;p7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2" name="Google Shape;1032;p7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7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5" name="Google Shape;1035;p7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6" name="Google Shape;1036;p7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7" name="Google Shape;1037;p7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8" name="Google Shape;1038;p7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7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1" name="Google Shape;1041;p7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2" name="Google Shape;1042;p7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3" name="Google Shape;1043;p7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4" name="Google Shape;1044;p7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5" name="Google Shape;1045;p7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6" name="Google Shape;1046;p7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7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9" name="Google Shape;1049;p7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50" name="Google Shape;1050;p7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51" name="Google Shape;1051;p7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52" name="Google Shape;1052;p7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3" name="Google Shape;1053;p7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4" name="Google Shape;1054;p7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5" name="Google Shape;1055;p7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6" name="Google Shape;1056;p7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9" name="Google Shape;1059;p7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7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62" name="Google Shape;1062;p7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63" name="Google Shape;1063;p7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64" name="Google Shape;1064;p7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65" name="Google Shape;1065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6" name="Google Shape;1066;p7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67" name="Google Shape;1067;p7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7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70" name="Google Shape;1070;p7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1" name="Google Shape;1071;p7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2" name="Google Shape;1072;p7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73" name="Google Shape;1073;p7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4" name="Google Shape;1074;p7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75" name="Google Shape;1075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76" name="Google Shape;1076;p7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77" name="Google Shape;1077;p7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78" name="Google Shape;1078;p7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8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3" name="Google Shape;1083;p8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4" name="Google Shape;1084;p8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5" name="Google Shape;1085;p8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6" name="Google Shape;1086;p8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7" name="Google Shape;1087;p8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8" name="Google Shape;1088;p8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9" name="Google Shape;1089;p8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0" name="Google Shape;1090;p8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1" name="Google Shape;1091;p8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69.xml"/><Relationship Id="rId42" Type="http://schemas.openxmlformats.org/officeDocument/2006/relationships/slideLayout" Target="../slideLayouts/slideLayout71.xml"/><Relationship Id="rId41" Type="http://schemas.openxmlformats.org/officeDocument/2006/relationships/slideLayout" Target="../slideLayouts/slideLayout70.xml"/><Relationship Id="rId44" Type="http://schemas.openxmlformats.org/officeDocument/2006/relationships/slideLayout" Target="../slideLayouts/slideLayout73.xml"/><Relationship Id="rId43" Type="http://schemas.openxmlformats.org/officeDocument/2006/relationships/slideLayout" Target="../slideLayouts/slideLayout72.xml"/><Relationship Id="rId46" Type="http://schemas.openxmlformats.org/officeDocument/2006/relationships/slideLayout" Target="../slideLayouts/slideLayout75.xml"/><Relationship Id="rId45" Type="http://schemas.openxmlformats.org/officeDocument/2006/relationships/slideLayout" Target="../slideLayouts/slideLayout74.xml"/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48" Type="http://schemas.openxmlformats.org/officeDocument/2006/relationships/slideLayout" Target="../slideLayouts/slideLayout77.xml"/><Relationship Id="rId47" Type="http://schemas.openxmlformats.org/officeDocument/2006/relationships/slideLayout" Target="../slideLayouts/slideLayout76.xml"/><Relationship Id="rId49" Type="http://schemas.openxmlformats.org/officeDocument/2006/relationships/slideLayout" Target="../slideLayouts/slideLayout78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59.xml"/><Relationship Id="rId33" Type="http://schemas.openxmlformats.org/officeDocument/2006/relationships/slideLayout" Target="../slideLayouts/slideLayout62.xml"/><Relationship Id="rId32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4.xml"/><Relationship Id="rId34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6.xml"/><Relationship Id="rId36" Type="http://schemas.openxmlformats.org/officeDocument/2006/relationships/slideLayout" Target="../slideLayouts/slideLayout65.xml"/><Relationship Id="rId39" Type="http://schemas.openxmlformats.org/officeDocument/2006/relationships/slideLayout" Target="../slideLayouts/slideLayout68.xml"/><Relationship Id="rId38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52.xml"/><Relationship Id="rId26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58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814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1432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1432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1432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1432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1432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1432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1432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1432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5" name="Google Shape;215;p3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216" name="Google Shape;216;p3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  <p:sldLayoutId id="2147483713" r:id="rId37"/>
    <p:sldLayoutId id="2147483714" r:id="rId38"/>
    <p:sldLayoutId id="2147483715" r:id="rId39"/>
    <p:sldLayoutId id="2147483716" r:id="rId40"/>
    <p:sldLayoutId id="2147483717" r:id="rId41"/>
    <p:sldLayoutId id="2147483718" r:id="rId42"/>
    <p:sldLayoutId id="2147483719" r:id="rId43"/>
    <p:sldLayoutId id="2147483720" r:id="rId44"/>
    <p:sldLayoutId id="2147483721" r:id="rId45"/>
    <p:sldLayoutId id="2147483722" r:id="rId46"/>
    <p:sldLayoutId id="2147483723" r:id="rId47"/>
    <p:sldLayoutId id="2147483724" r:id="rId48"/>
    <p:sldLayoutId id="2147483725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8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Human Scream Detection AI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81"/>
          <p:cNvSpPr txBox="1"/>
          <p:nvPr>
            <p:ph idx="1" type="subTitle"/>
          </p:nvPr>
        </p:nvSpPr>
        <p:spPr>
          <a:xfrm>
            <a:off x="130200" y="4598275"/>
            <a:ext cx="6859200" cy="43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Subtitle: AI-Powered Audio Analysis for Emergency Detection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82"/>
          <p:cNvSpPr txBox="1"/>
          <p:nvPr>
            <p:ph type="title"/>
          </p:nvPr>
        </p:nvSpPr>
        <p:spPr>
          <a:xfrm>
            <a:off x="96025" y="1206300"/>
            <a:ext cx="5395500" cy="7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82"/>
          <p:cNvSpPr txBox="1"/>
          <p:nvPr>
            <p:ph idx="1" type="subTitle"/>
          </p:nvPr>
        </p:nvSpPr>
        <p:spPr>
          <a:xfrm>
            <a:off x="195025" y="1917300"/>
            <a:ext cx="5197500" cy="28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Scream Detection is Important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Screams are one of the most universal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signals of fear, danger, or distress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across all cultures.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critical situations (crime, accidents, medical emergencies),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scream is often the only signal for help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Safety, security, and healthcare applications require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quick response systems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identify such distress signals.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83"/>
          <p:cNvSpPr txBox="1"/>
          <p:nvPr>
            <p:ph type="title"/>
          </p:nvPr>
        </p:nvSpPr>
        <p:spPr>
          <a:xfrm>
            <a:off x="96025" y="1206300"/>
            <a:ext cx="5395500" cy="7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Current Gap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83"/>
          <p:cNvSpPr txBox="1"/>
          <p:nvPr>
            <p:ph idx="1" type="subTitle"/>
          </p:nvPr>
        </p:nvSpPr>
        <p:spPr>
          <a:xfrm>
            <a:off x="146950" y="1880850"/>
            <a:ext cx="5197500" cy="27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surveillance systems rely on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CCTV and manual monitoring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which may fail to detect screams in time.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widely available automated solution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real-time scream recognition.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Existing audio detection systems are often limited to music/speech recognition, not distress sounds.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84"/>
          <p:cNvSpPr txBox="1"/>
          <p:nvPr>
            <p:ph idx="4294967295" type="title"/>
          </p:nvPr>
        </p:nvSpPr>
        <p:spPr>
          <a:xfrm>
            <a:off x="96025" y="1206300"/>
            <a:ext cx="6959100" cy="7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Need for AI-powered Scream Detection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84"/>
          <p:cNvSpPr txBox="1"/>
          <p:nvPr>
            <p:ph idx="1" type="subTitle"/>
          </p:nvPr>
        </p:nvSpPr>
        <p:spPr>
          <a:xfrm>
            <a:off x="149250" y="2107025"/>
            <a:ext cx="6010800" cy="280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</a:t>
            </a: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24/7 automated monitoring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without human intervention.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trigger </a:t>
            </a: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instant alerts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public spaces, hospitals, and smart homes.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Enhances safety by acting as an </a:t>
            </a: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early-warning system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during emergencies.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85"/>
          <p:cNvSpPr txBox="1"/>
          <p:nvPr>
            <p:ph idx="4294967295" type="title"/>
          </p:nvPr>
        </p:nvSpPr>
        <p:spPr>
          <a:xfrm>
            <a:off x="96025" y="596700"/>
            <a:ext cx="2666700" cy="7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Objectives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85"/>
          <p:cNvSpPr txBox="1"/>
          <p:nvPr>
            <p:ph idx="1" type="subTitle"/>
          </p:nvPr>
        </p:nvSpPr>
        <p:spPr>
          <a:xfrm>
            <a:off x="149250" y="1041750"/>
            <a:ext cx="6381300" cy="352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Objective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design and develop an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system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capable of accurately distinguishing between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screams and non-scream sounds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Objectives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models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(Logistic Regression, Decision Tree, Random Forest) and evaluate performance on audio data.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 meaningful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audio features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(MFCCs, Spectrogram, Zero Crossing Rate, RMS) for robust classification.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noise and improve detection accuracy through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preprocessing and feature selection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86"/>
          <p:cNvSpPr txBox="1"/>
          <p:nvPr>
            <p:ph idx="1" type="body"/>
          </p:nvPr>
        </p:nvSpPr>
        <p:spPr>
          <a:xfrm>
            <a:off x="38825" y="714700"/>
            <a:ext cx="5369100" cy="73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Dataset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86"/>
          <p:cNvSpPr txBox="1"/>
          <p:nvPr>
            <p:ph idx="4294967295" type="subTitle"/>
          </p:nvPr>
        </p:nvSpPr>
        <p:spPr>
          <a:xfrm>
            <a:off x="152400" y="1345025"/>
            <a:ext cx="4488900" cy="20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Sources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Collected audio samples of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scream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non-scream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sounds.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Balanced dataset ensuring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equal representation of both classes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Audio formats standardized to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WAV/MP3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fixed sampling rate.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87"/>
          <p:cNvSpPr txBox="1"/>
          <p:nvPr>
            <p:ph idx="4294967295" type="subTitle"/>
          </p:nvPr>
        </p:nvSpPr>
        <p:spPr>
          <a:xfrm>
            <a:off x="207300" y="675000"/>
            <a:ext cx="6501600" cy="42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Data Cleaning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Removed corrupted/missing audio files.</a:t>
            </a:r>
            <a:endParaRPr sz="1100"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Normalized audio signals for consistent amplitude.</a:t>
            </a:r>
            <a:endParaRPr sz="11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Feature Extraction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MFCCs (Mel Frequency Cepstral Coefficients):</a:t>
            </a:r>
            <a:r>
              <a:rPr lang="en" sz="1100"/>
              <a:t> capture frequency domain features.</a:t>
            </a:r>
            <a:endParaRPr sz="1100"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Spectrograms:</a:t>
            </a:r>
            <a:r>
              <a:rPr lang="en" sz="1100"/>
              <a:t> visualize frequency vs time.</a:t>
            </a:r>
            <a:endParaRPr sz="1100"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Zero Crossing Rate (ZCR):</a:t>
            </a:r>
            <a:r>
              <a:rPr lang="en" sz="1100"/>
              <a:t> detects abrupt changes in sound.</a:t>
            </a:r>
            <a:endParaRPr sz="1100"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Root Mean Square Energy (RMS):</a:t>
            </a:r>
            <a:r>
              <a:rPr lang="en" sz="1100"/>
              <a:t> captures intensity of the audio.</a:t>
            </a:r>
            <a:endParaRPr sz="11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Label Encoding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Assigned </a:t>
            </a:r>
            <a:r>
              <a:rPr b="1" lang="en" sz="1100"/>
              <a:t>1 = Scream, 0 = Non-Scream</a:t>
            </a:r>
            <a:r>
              <a:rPr lang="en" sz="1100"/>
              <a:t> for classification.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87"/>
          <p:cNvSpPr txBox="1"/>
          <p:nvPr>
            <p:ph idx="4294967295" type="body"/>
          </p:nvPr>
        </p:nvSpPr>
        <p:spPr>
          <a:xfrm>
            <a:off x="115025" y="333700"/>
            <a:ext cx="6295200" cy="7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Preprocessing Techniques</a:t>
            </a:r>
            <a:endParaRPr b="1"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88"/>
          <p:cNvSpPr txBox="1"/>
          <p:nvPr>
            <p:ph idx="4294967295" type="subTitle"/>
          </p:nvPr>
        </p:nvSpPr>
        <p:spPr>
          <a:xfrm>
            <a:off x="131100" y="598800"/>
            <a:ext cx="3309000" cy="31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Audio Fingerprints: Normal Voice vs. Scream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visualize the unique characteristics of a sound using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Mel-Frequency Cepstral Coefficients (MFCCs)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Think of the plots below as the "fingerprint" of each audio clip. These visual differences are exactly what a machine learning model uses to tell sounds apart.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88"/>
          <p:cNvSpPr txBox="1"/>
          <p:nvPr>
            <p:ph idx="4294967295" type="body"/>
          </p:nvPr>
        </p:nvSpPr>
        <p:spPr>
          <a:xfrm>
            <a:off x="136850" y="300950"/>
            <a:ext cx="3309000" cy="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EDA &amp; Visualization</a:t>
            </a:r>
            <a:endParaRPr b="1" sz="2300"/>
          </a:p>
        </p:txBody>
      </p:sp>
      <p:pic>
        <p:nvPicPr>
          <p:cNvPr id="1140" name="Google Shape;114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5850" y="789825"/>
            <a:ext cx="2806499" cy="2467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2350" y="789825"/>
            <a:ext cx="2802350" cy="2467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89"/>
          <p:cNvSpPr txBox="1"/>
          <p:nvPr>
            <p:ph idx="4294967295" type="subTitle"/>
          </p:nvPr>
        </p:nvSpPr>
        <p:spPr>
          <a:xfrm>
            <a:off x="207300" y="675000"/>
            <a:ext cx="3309000" cy="31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Analyzing Sound's 'Brightness': The Spectral Centroid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Spectral Centroid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feature that helps us locate the "center of mass" of a sound's frequencies. Think of it as a measure of a sound's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brightness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 sound with a higher spectral centroid is perceived as brighter or more piercing, like the hiss of a cymbal, while a sound with a lower one is duller, like a bass drum.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89"/>
          <p:cNvSpPr txBox="1"/>
          <p:nvPr>
            <p:ph idx="4294967295" type="body"/>
          </p:nvPr>
        </p:nvSpPr>
        <p:spPr>
          <a:xfrm>
            <a:off x="136850" y="300950"/>
            <a:ext cx="3309000" cy="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EDA &amp; Visualization</a:t>
            </a:r>
            <a:endParaRPr b="1" sz="2300"/>
          </a:p>
        </p:txBody>
      </p:sp>
      <p:pic>
        <p:nvPicPr>
          <p:cNvPr id="1148" name="Google Shape;114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1850" y="152401"/>
            <a:ext cx="4766769" cy="195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1850" y="2129501"/>
            <a:ext cx="4766769" cy="19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90"/>
          <p:cNvSpPr txBox="1"/>
          <p:nvPr>
            <p:ph idx="4294967295" type="subTitle"/>
          </p:nvPr>
        </p:nvSpPr>
        <p:spPr>
          <a:xfrm>
            <a:off x="131100" y="675000"/>
            <a:ext cx="3309000" cy="31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Measuring Loudness: RMS Energy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RMS (Root Mean Square) Energy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standard way to measure the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loudness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power of an audio signal over time. A higher RMS value simply means a louder, more powerful sound. This is one of the most fundamental features for distinguishing between different types of audio events.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90"/>
          <p:cNvSpPr txBox="1"/>
          <p:nvPr>
            <p:ph idx="4294967295" type="body"/>
          </p:nvPr>
        </p:nvSpPr>
        <p:spPr>
          <a:xfrm>
            <a:off x="136850" y="300950"/>
            <a:ext cx="3309000" cy="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EDA &amp; Visualization</a:t>
            </a:r>
            <a:endParaRPr b="1" sz="2300"/>
          </a:p>
        </p:txBody>
      </p:sp>
      <p:pic>
        <p:nvPicPr>
          <p:cNvPr id="1156" name="Google Shape;115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1825" y="2140400"/>
            <a:ext cx="5448025" cy="200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1825" y="136525"/>
            <a:ext cx="5448024" cy="200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91"/>
          <p:cNvSpPr txBox="1"/>
          <p:nvPr>
            <p:ph type="title"/>
          </p:nvPr>
        </p:nvSpPr>
        <p:spPr>
          <a:xfrm>
            <a:off x="228600" y="1687875"/>
            <a:ext cx="3570600" cy="2774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classify the audio features, we utilized a Logistic Regression model. This is a reliable and efficient algorithm for binary classification (Scream vs. Normal). The model's performance on our dataset was excellent, demonstrating high accuracy and reliability.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63" name="Google Shape;1163;p91"/>
          <p:cNvSpPr txBox="1"/>
          <p:nvPr>
            <p:ph idx="2" type="title"/>
          </p:nvPr>
        </p:nvSpPr>
        <p:spPr>
          <a:xfrm>
            <a:off x="126900" y="295300"/>
            <a:ext cx="60555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Performance: Logistic Regression Results</a:t>
            </a:r>
            <a:endParaRPr/>
          </a:p>
        </p:txBody>
      </p:sp>
      <p:pic>
        <p:nvPicPr>
          <p:cNvPr id="1164" name="Google Shape;116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2400" y="1499395"/>
            <a:ext cx="2748075" cy="2144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2397" y="3754875"/>
            <a:ext cx="2748075" cy="123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92"/>
          <p:cNvSpPr txBox="1"/>
          <p:nvPr>
            <p:ph idx="2" type="title"/>
          </p:nvPr>
        </p:nvSpPr>
        <p:spPr>
          <a:xfrm>
            <a:off x="115025" y="502775"/>
            <a:ext cx="27426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</a:t>
            </a:r>
            <a:endParaRPr/>
          </a:p>
        </p:txBody>
      </p:sp>
      <p:sp>
        <p:nvSpPr>
          <p:cNvPr id="1171" name="Google Shape;1171;p92"/>
          <p:cNvSpPr txBox="1"/>
          <p:nvPr/>
        </p:nvSpPr>
        <p:spPr>
          <a:xfrm>
            <a:off x="115025" y="1272300"/>
            <a:ext cx="3039600" cy="3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Overview of Application</a:t>
            </a:r>
            <a:endParaRPr b="1" sz="1500"/>
          </a:p>
          <a:p>
            <a:pPr indent="-3238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Developed using </a:t>
            </a:r>
            <a:r>
              <a:rPr b="1" lang="en" sz="1500"/>
              <a:t>Python Tkinter</a:t>
            </a:r>
            <a:r>
              <a:rPr lang="en" sz="1500"/>
              <a:t> for GUI.</a:t>
            </a:r>
            <a:br>
              <a:rPr lang="en" sz="1500"/>
            </a:b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Integrated with </a:t>
            </a:r>
            <a:r>
              <a:rPr b="1" lang="en" sz="1500"/>
              <a:t>Pygame</a:t>
            </a:r>
            <a:r>
              <a:rPr lang="en" sz="1500"/>
              <a:t> for audio playback.</a:t>
            </a:r>
            <a:br>
              <a:rPr lang="en" sz="1500"/>
            </a:b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Connected to trained </a:t>
            </a:r>
            <a:r>
              <a:rPr b="1" lang="en" sz="1500"/>
              <a:t>ML model</a:t>
            </a:r>
            <a:r>
              <a:rPr lang="en" sz="1500"/>
              <a:t> for scream classification.</a:t>
            </a:r>
            <a:endParaRPr sz="15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/>
          </a:p>
        </p:txBody>
      </p:sp>
      <p:pic>
        <p:nvPicPr>
          <p:cNvPr id="1172" name="Google Shape;117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1150" y="1008075"/>
            <a:ext cx="4159304" cy="367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93"/>
          <p:cNvSpPr txBox="1"/>
          <p:nvPr>
            <p:ph idx="2" type="title"/>
          </p:nvPr>
        </p:nvSpPr>
        <p:spPr>
          <a:xfrm>
            <a:off x="115025" y="502775"/>
            <a:ext cx="27426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</a:t>
            </a:r>
            <a:endParaRPr/>
          </a:p>
        </p:txBody>
      </p:sp>
      <p:pic>
        <p:nvPicPr>
          <p:cNvPr id="1178" name="Google Shape;117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5175" y="2367418"/>
            <a:ext cx="2879750" cy="254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025" y="1301725"/>
            <a:ext cx="2874275" cy="2540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0700" y="1301725"/>
            <a:ext cx="2874275" cy="2540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94"/>
          <p:cNvSpPr txBox="1"/>
          <p:nvPr>
            <p:ph idx="1" type="body"/>
          </p:nvPr>
        </p:nvSpPr>
        <p:spPr>
          <a:xfrm>
            <a:off x="-15900" y="755875"/>
            <a:ext cx="4634700" cy="3599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Developed an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AI-based system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detect human screams from audio.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Compared multiple ML models →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performed best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a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Tkinter GUI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upload, play &amp; analyze audio.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instant alerts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 Normal / Scream).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Useful for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safety, healthcare &amp; surveillance applications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86" name="Google Shape;1186;p94"/>
          <p:cNvSpPr txBox="1"/>
          <p:nvPr>
            <p:ph idx="4294967295" type="title"/>
          </p:nvPr>
        </p:nvSpPr>
        <p:spPr>
          <a:xfrm>
            <a:off x="115025" y="361300"/>
            <a:ext cx="2742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95"/>
          <p:cNvSpPr txBox="1"/>
          <p:nvPr/>
        </p:nvSpPr>
        <p:spPr>
          <a:xfrm>
            <a:off x="547950" y="1138625"/>
            <a:ext cx="7236300" cy="3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Real-time Detection</a:t>
            </a:r>
            <a:r>
              <a:rPr lang="en"/>
              <a:t> → Enable continuous monitoring using microphone input.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Deployment</a:t>
            </a:r>
            <a:r>
              <a:rPr lang="en"/>
              <a:t> → Extend system to </a:t>
            </a:r>
            <a:r>
              <a:rPr b="1" lang="en"/>
              <a:t>mobile &amp; web apps</a:t>
            </a:r>
            <a:r>
              <a:rPr lang="en"/>
              <a:t> for wider adoption.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IoT Integration</a:t>
            </a:r>
            <a:r>
              <a:rPr lang="en"/>
              <a:t> → Connect with </a:t>
            </a:r>
            <a:r>
              <a:rPr b="1" lang="en"/>
              <a:t>CCTV &amp; smart devices</a:t>
            </a:r>
            <a:r>
              <a:rPr lang="en"/>
              <a:t> for instant alerts.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Extended Scope</a:t>
            </a:r>
            <a:r>
              <a:rPr lang="en"/>
              <a:t> → Detect other distress sounds like </a:t>
            </a:r>
            <a:r>
              <a:rPr b="1" lang="en"/>
              <a:t>crying, shouting, gunshots</a:t>
            </a:r>
            <a:r>
              <a:rPr lang="en"/>
              <a:t>.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Scalability</a:t>
            </a:r>
            <a:r>
              <a:rPr lang="en"/>
              <a:t> → Optimize for large-scale use in </a:t>
            </a:r>
            <a:r>
              <a:rPr b="1" lang="en"/>
              <a:t>public safety &amp; healthcare systems</a:t>
            </a:r>
            <a:r>
              <a:rPr lang="en"/>
              <a:t>.</a:t>
            </a:r>
            <a:endParaRPr/>
          </a:p>
        </p:txBody>
      </p:sp>
      <p:sp>
        <p:nvSpPr>
          <p:cNvPr id="1192" name="Google Shape;1192;p95"/>
          <p:cNvSpPr txBox="1"/>
          <p:nvPr>
            <p:ph idx="3" type="title"/>
          </p:nvPr>
        </p:nvSpPr>
        <p:spPr>
          <a:xfrm>
            <a:off x="395550" y="635000"/>
            <a:ext cx="24255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Future Work</a:t>
            </a:r>
            <a:endParaRPr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96"/>
          <p:cNvSpPr txBox="1"/>
          <p:nvPr>
            <p:ph type="title"/>
          </p:nvPr>
        </p:nvSpPr>
        <p:spPr>
          <a:xfrm>
            <a:off x="163725" y="15000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away!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7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yllabus / Course Overview #1">
  <a:themeElements>
    <a:clrScheme name="Simple Light">
      <a:dk1>
        <a:srgbClr val="03045E"/>
      </a:dk1>
      <a:lt1>
        <a:srgbClr val="CAF0F8"/>
      </a:lt1>
      <a:dk2>
        <a:srgbClr val="00508A"/>
      </a:dk2>
      <a:lt2>
        <a:srgbClr val="FFFFFF"/>
      </a:lt2>
      <a:accent1>
        <a:srgbClr val="86FFFF"/>
      </a:accent1>
      <a:accent2>
        <a:srgbClr val="90E0EF"/>
      </a:accent2>
      <a:accent3>
        <a:srgbClr val="0077B6"/>
      </a:accent3>
      <a:accent4>
        <a:srgbClr val="0096C7"/>
      </a:accent4>
      <a:accent5>
        <a:srgbClr val="00B4D8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